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부정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 적합도</c:v>
                  </c:pt>
                  <c:pt idx="2">
                    <c:v>비용·결제·가성비</c:v>
                  </c:pt>
                  <c:pt idx="3">
                    <c:v>상담·온보딩 명확성</c:v>
                  </c:pt>
                  <c:pt idx="4">
                    <c:v>학습관리·진도 피드백</c:v>
                  </c:pt>
                  <c:pt idx="5">
                    <c:v>학부모 커뮤니케이션</c:v>
                  </c:pt>
                  <c:pt idx="6">
                    <c:v>운영 응대·이슈 해결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12</c:v>
                </c:pt>
                <c:pt idx="2">
                  <c:v>15</c:v>
                </c:pt>
                <c:pt idx="3">
                  <c:v>18</c:v>
                </c:pt>
                <c:pt idx="4">
                  <c:v>22</c:v>
                </c:pt>
                <c:pt idx="5">
                  <c:v>25</c:v>
                </c:pt>
                <c:pt idx="6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중립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 적합도</c:v>
                  </c:pt>
                  <c:pt idx="2">
                    <c:v>비용·결제·가성비</c:v>
                  </c:pt>
                  <c:pt idx="3">
                    <c:v>상담·온보딩 명확성</c:v>
                  </c:pt>
                  <c:pt idx="4">
                    <c:v>학습관리·진도 피드백</c:v>
                  </c:pt>
                  <c:pt idx="5">
                    <c:v>학부모 커뮤니케이션</c:v>
                  </c:pt>
                  <c:pt idx="6">
                    <c:v>운영 응대·이슈 해결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</c:v>
                </c:pt>
                <c:pt idx="1">
                  <c:v>23</c:v>
                </c:pt>
                <c:pt idx="2">
                  <c:v>50</c:v>
                </c:pt>
                <c:pt idx="3">
                  <c:v>32</c:v>
                </c:pt>
                <c:pt idx="4">
                  <c:v>38</c:v>
                </c:pt>
                <c:pt idx="5">
                  <c:v>35</c:v>
                </c:pt>
                <c:pt idx="6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긍정</c:v>
                </c:pt>
              </c:strCache>
            </c:strRef>
          </c:tx>
          <c:spPr>
            <a:solidFill>
              <a:srgbClr val="5C8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 적합도</c:v>
                  </c:pt>
                  <c:pt idx="2">
                    <c:v>비용·결제·가성비</c:v>
                  </c:pt>
                  <c:pt idx="3">
                    <c:v>상담·온보딩 명확성</c:v>
                  </c:pt>
                  <c:pt idx="4">
                    <c:v>학습관리·진도 피드백</c:v>
                  </c:pt>
                  <c:pt idx="5">
                    <c:v>학부모 커뮤니케이션</c:v>
                  </c:pt>
                  <c:pt idx="6">
                    <c:v>운영 응대·이슈 해결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70</c:v>
                </c:pt>
                <c:pt idx="1">
                  <c:v>65</c:v>
                </c:pt>
                <c:pt idx="2">
                  <c:v>35</c:v>
                </c:pt>
                <c:pt idx="3">
                  <c:v>50</c:v>
                </c:pt>
                <c:pt idx="4">
                  <c:v>40</c:v>
                </c:pt>
                <c:pt idx="5">
                  <c:v>40</c:v>
                </c:pt>
                <c:pt idx="6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B192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B1929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재구매 의향</c:v>
                </c:pt>
              </c:strCache>
            </c:strRef>
          </c:tx>
          <c:spPr>
            <a:solidFill>
              <a:srgbClr val="5C8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</c:v>
                  </c:pt>
                  <c:pt idx="2">
                    <c:v>비용·결제</c:v>
                  </c:pt>
                  <c:pt idx="3">
                    <c:v>상담·온보딩</c:v>
                  </c:pt>
                  <c:pt idx="4">
                    <c:v>학습관리·피드백</c:v>
                  </c:pt>
                  <c:pt idx="5">
                    <c:v>학부모 커뮤니</c:v>
                  </c:pt>
                  <c:pt idx="6">
                    <c:v>운영 응대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6</c:v>
                </c:pt>
                <c:pt idx="2">
                  <c:v>10</c:v>
                </c:pt>
                <c:pt idx="3">
                  <c:v>12</c:v>
                </c:pt>
                <c:pt idx="4">
                  <c:v>14</c:v>
                </c:pt>
                <c:pt idx="5">
                  <c:v>15</c:v>
                </c:pt>
                <c:pt idx="6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중립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</c:v>
                  </c:pt>
                  <c:pt idx="2">
                    <c:v>비용·결제</c:v>
                  </c:pt>
                  <c:pt idx="3">
                    <c:v>상담·온보딩</c:v>
                  </c:pt>
                  <c:pt idx="4">
                    <c:v>학습관리·피드백</c:v>
                  </c:pt>
                  <c:pt idx="5">
                    <c:v>학부모 커뮤니</c:v>
                  </c:pt>
                  <c:pt idx="6">
                    <c:v>운영 응대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</c:v>
                </c:pt>
                <c:pt idx="1">
                  <c:v>12</c:v>
                </c:pt>
                <c:pt idx="2">
                  <c:v>16</c:v>
                </c:pt>
                <c:pt idx="3">
                  <c:v>18</c:v>
                </c:pt>
                <c:pt idx="4">
                  <c:v>22</c:v>
                </c:pt>
                <c:pt idx="5">
                  <c:v>25</c:v>
                </c:pt>
                <c:pt idx="6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이탈 의향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수업 품질</c:v>
                  </c:pt>
                  <c:pt idx="1">
                    <c:v>튜터 매칭</c:v>
                  </c:pt>
                  <c:pt idx="2">
                    <c:v>비용·결제</c:v>
                  </c:pt>
                  <c:pt idx="3">
                    <c:v>상담·온보딩</c:v>
                  </c:pt>
                  <c:pt idx="4">
                    <c:v>학습관리·피드백</c:v>
                  </c:pt>
                  <c:pt idx="5">
                    <c:v>학부모 커뮤니</c:v>
                  </c:pt>
                  <c:pt idx="6">
                    <c:v>운영 응대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12</c:v>
                </c:pt>
                <c:pt idx="1">
                  <c:v>18</c:v>
                </c:pt>
                <c:pt idx="2">
                  <c:v>22</c:v>
                </c:pt>
                <c:pt idx="3">
                  <c:v>26</c:v>
                </c:pt>
                <c:pt idx="4">
                  <c:v>38</c:v>
                </c:pt>
                <c:pt idx="5">
                  <c:v>48</c:v>
                </c:pt>
                <c:pt idx="6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800" b="0" i="0" u="none" strike="noStrike">
                <a:solidFill>
                  <a:srgbClr val="0B192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94A3B8"/>
                    </a:solidFill>
                    <a:latin typeface="Pretendard"/>
                  </a:defRPr>
                </a:pPr>
                <a:r>
                  <a:rPr sz="800" b="0" i="0" u="none" strike="noStrike">
                    <a:solidFill>
                      <a:srgbClr val="94A3B8"/>
                    </a:solidFill>
                    <a:latin typeface="Pretendard"/>
                  </a:rPr>
                  <a:t>카테고리별 부정 후기 비율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0B1929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 FOR GOORM APPLICATION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운영의 기본기 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자동화 워크플로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5486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대치동 교육 컨설팅 4년 + IT/디지털 교육 도메인 친숙도 + AI 자동화 워크플로 + 구름 운영 적용 가설을 5장에 압축했습니다.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구름 교육 운영 매니저 지원 자료로,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 페이지·자기소개서와 함께 패키지로 구성했습니다.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지원자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· Sanghoon Yoon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직무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구름 교육 운영 매니저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작성일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구름 교육 운영 매니저 지원 · 윤상훈 · 2026.04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8A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 FOR GOORM APPLICATION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6350">
            <a:solidFill>
              <a:srgbClr val="3044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ACADEMIC PATTERN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낯선 도메인을 빠르게 구조화해 학습한 패턴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8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한서대 항공운항학과 5학기 학점 4.36, 전체 석차 1위. 한화오션 퇴사 후 재진학해 항공기상·항공기 시스템·항행시설 같은 복잡한 이공계 전공을 HWP 정리자료로 구조화해 학습한 결과입니다.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8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구름의 우대사항인 "프로그래밍 역량"·"교육 시장·콘텐츠 이해도" 영역도 같은 패턴으로 빠르게 흡수할 수 있는 능력의 직접 증거입니다.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학업 성과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5학기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학점 4.36 · 석차 1위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C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한서대 항공운항학과 (이공계 전공)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61360" y="3429000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장학금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61360" y="370332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교내 성적장학금 4회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1360" y="406908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C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수석 3회·차석 1회 + 한국장학재단 이공계 장학금 전액 (3·4학년)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65520" y="3429000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패턴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65520" y="370332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낯선 도메인 빠르게 구조화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65520" y="406908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C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한서대 5학기·이공계·석차 1위 — 코딩 부트캠프 도메인도 같은 방식으로 빠르게 흡수 가능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3044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8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윤상훈 · Sanghoon Yoon  ·  2026.04  ·  구름 교육 운영 매니저 지원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·  DOMAIN AFFINITY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IT/디지털 교육으로 옮길 수 있는 경험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한서대 항공운항(이공계 전공), 에듀테크 스타트업 재직, 실시간 매칭 웹앱 단독 빌드·유지보수까지 — 입시 컨설팅 4년과 별도로 IT/디지털 교육 도메인 안에서 누적된 트랙입니다.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576" cy="2606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한서대 항공운항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한화오션 퇴사 후 재진학. 5학기 학점 4.36·석차 1위로 항공기상·시스템·항행시설 같은 복잡한 이공계 전공을 빠르게 구조화해 학습한 패턴이 직접 증거로 남아 있습니다.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1920240"/>
            <a:ext cx="36576" cy="2606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40614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06140" y="2560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에듀테크 운영 실무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6140" y="29718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에듀테크 스타트업 재직 시절 외부 클라이언트 납품용 영상·숏폼 학습 콘텐츠 제작 워크플로를 단독으로 운영. 콘텐츠 기획→제작→납품 사이클을 월 단위로 굴리며 "에듀테크 운영" 실무를 직접 익힌 시간이었습니다.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920240"/>
            <a:ext cx="36576" cy="2606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72200" y="2560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매칭 웹앱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97180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50~100명 규모 오프라인 이벤트 운영용 실시간 매칭 웹앱을 React·TypeScript·Supabase·Vercel로 단독 구축·유지보수. 클라이언트와 함께 사용자 피드백 검토하며 운영 중 UX·권한 관리·데이터 구조 이슈를 단계적으로 정리·반영해 왔습니다.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구름 교육 운영 매니저 지원 · 윤상훈 · 2026.04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·  AI WORKFLOW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구축·운영한 AI 워크플로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Electron + multi-LLM 기반 콘텐츠·운영 워크플로 2개. 구름 "운영 자동화 도구 활용"에 직접 매핑됩니다.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640080" cy="8686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97280" y="1691640"/>
            <a:ext cx="7589520" cy="8686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737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 AI 영상 제작 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분석 근거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Electron + multi-LLM (~29,000줄). 영상 자막 → 핵심 구간 식별 → 숏폼 초안 생성. 외부 클라이언트 납품.
</a:t>
            </a:r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실행 가설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영상의 요약·구간 선별·초안 작성을 워크플로로 구조화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Impact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0" y="19842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952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Effort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589520" y="19842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中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640080" cy="8686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5176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097280" y="2651760"/>
            <a:ext cx="7589520" cy="8686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2697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숏폼 트렌드 분석 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017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분석 근거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Electron + Apify + multi-LLM. 트렌드 자동 수집 → 숏폼 기획안까지 6단계 파이프라인.
</a:t>
            </a:r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실행 가설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Trends → Script → TTS → Video → Upload → Results · 반복 기획 시간 단축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Impact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3680" y="29443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8952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Effort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589520" y="29443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中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640080" cy="8686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118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97280" y="3611880"/>
            <a:ext cx="7589520" cy="8686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7" name="Text 25"/>
          <p:cNvSpPr/>
          <p:nvPr/>
        </p:nvSpPr>
        <p:spPr>
          <a:xfrm>
            <a:off x="1280160" y="3657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설계 원칙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분석 근거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단순 호출이 아니라 반복 업무를 분해해 자동화·검수 단계를 끼워 넣은 워크플로.
</a:t>
            </a:r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실행 가설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 게이트로 운영자 검수 — 결과물 품질·플랫폼 리스크 관리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58368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Impact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83680" y="39044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中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8952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Effort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89520" y="39044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中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200" y="4525000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55000"/>
            <a:ext cx="82296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전제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워크플로의 시스템 다이어그램은 전용 페이지의 03 — AI Workflow 섹션에 포함되어 있습니다.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구름 교육 운영 매니저 지원 · 윤상훈 · 2026.04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·  APPLICATION HYPOTHESIS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구름 운영 적용 가설 4가지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자동화 도구의 워크플로 + 운영 사이클 4년 경험을 구름 교육 운영 맥락에 옮기면 다음과 같이 작동할 수 있다고 봅니다. 모든 AI 결과는 운영자가 최종 확인하는 보조 도구로 사용 전제.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576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학습 독려·완주율 모니터링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출결·과제 진척·학습 활동 데이터를 누적해 이탈 위험 신호(연속 결석·과제 미제출·학습 활동 급감 등)를 운영자가 빠르게 확인할 수 있도록 우선순위화.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0EA5E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보완 방향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일/주 단위로 응대 대상 리스트 정리 → 운영자가 우선 응대해야 할 수강생을 명확히.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7720" y="1828800"/>
            <a:ext cx="36576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874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1874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강사·교육생·운영팀 커뮤니케이션 로그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1945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채널별로 흩어지는 문의·이슈·요청을 누적 가능한 형태로 모음. 반복 이슈를 주간 리포트화해 패턴 파악·우선순위 대응 지원.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27889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0EA5E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보완 방향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흐름이 아니라 누적 데이터로 운영 품질을 다룰 수 있게 됩니다.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6576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337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콘텐츠 검색성·재사용성 개선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누적된 강의 영상·실습 자료를 자막·구간·태그 단위로 분절해 검색 가능한 메타데이터로 정리. LLM이 발췌·재구성 초안 생성 → 운영자 검수.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4251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0EA5E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보완 방향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제작 앱에서 자막 추출 + LLM 분류 흐름을 직접 빌드한 경험이 그대로 매핑.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3291840"/>
            <a:ext cx="36576" cy="1371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3337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2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운영 FAQ·공지·리마인드 자동화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6576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 회차 반복되는 안내 문구·리마인드 알림·과정별 FAQ 응대를 LLM 초안 생성 + 운영자 검수 흐름으로 구조화.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4251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spc="100" kern="0" dirty="0">
                <a:solidFill>
                  <a:srgbClr val="0EA5E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 xml:space="preserve">보완 방향 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운영자가 문구 작성보다 검수와 판단에 시간을 쓸 수 있도록 합니다.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48234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구름 교육 운영 매니저 지원 · 윤상훈 · 2026.04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6384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가상 업그레이드캠퍼스 VOC 100건 운영 분석</dc:title>
  <dc:subject>팀업그레이드 운영팀 지원 자료</dc:subject>
  <dc:creator>Sanghoon Yoon</dc:creator>
  <cp:lastModifiedBy>Sanghoon Yoon</cp:lastModifiedBy>
  <cp:revision>1</cp:revision>
  <dcterms:created xsi:type="dcterms:W3CDTF">2026-04-27T22:25:33Z</dcterms:created>
  <dcterms:modified xsi:type="dcterms:W3CDTF">2026-04-27T22:25:33Z</dcterms:modified>
</cp:coreProperties>
</file>